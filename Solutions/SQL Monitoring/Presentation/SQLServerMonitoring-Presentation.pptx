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SQL Server Monitoring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Centralized Monitoring with Azure Automation &amp; Logs Ingestion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  <a:latin typeface="Segoe UI"/>
              </a:defRPr>
            </a:pPr>
            <a:r>
              <a:t>Azure Monitor  |  Log Analytics  |  Custom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B5F6"/>
                </a:solidFill>
                <a:latin typeface="Segoe UI"/>
              </a:defRPr>
            </a:pPr>
            <a:r>
              <a:t>Microsoft Azure Monitor Assets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1.  Challenge &amp; Business Problem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2.  Solution Overview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3.  Architecture Deep Dive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4.  Data Pipeline: Logs Ingestion API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5.  Workbook Dashboard (4 Tabs)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6.  Security &amp; Authentication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7.  Deployment Options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8.  Demo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Monitoring SQL Server instances across hybrid environments is complex: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60320" cy="320040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  <a:latin typeface="Segoe UI"/>
              </a:defRPr>
            </a:pPr>
            <a:r>
              <a:t>Fragmented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SQL Servers spread across on-prem,</a:t>
            </a:r>
            <a:br/>
            <a:r>
              <a:t>IaaS VMs, and Arc-enabled servers</a:t>
            </a:r>
            <a:br/>
            <a:r>
              <a:t>with no unified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377440"/>
            <a:ext cx="2560320" cy="320040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  <a:latin typeface="Segoe UI"/>
              </a:defRPr>
            </a:pPr>
            <a:r>
              <a:t>Backup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No centralized way to verify backup</a:t>
            </a:r>
            <a:br/>
            <a:r>
              <a:t>SLA compliance across all databases</a:t>
            </a:r>
            <a:br/>
            <a:r>
              <a:t>and instances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2560320" cy="320040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  <a:latin typeface="Segoe UI"/>
              </a:defRPr>
            </a:pPr>
            <a:r>
              <a:t>Manual 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Teams rely on manual scripts or</a:t>
            </a:r>
            <a:br/>
            <a:r>
              <a:t>third-party tools with complex</a:t>
            </a:r>
            <a:br/>
            <a:r>
              <a:t>licensing and overhead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377440"/>
            <a:ext cx="2560320" cy="320040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  <a:latin typeface="Segoe UI"/>
              </a:defRPr>
            </a:pPr>
            <a:r>
              <a:t>Reactive Alerting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Issues discovered after impact;</a:t>
            </a:r>
            <a:br/>
            <a:r>
              <a:t>no proactive monitoring of</a:t>
            </a:r>
            <a:br/>
            <a:r>
              <a:t>uptime and backup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A fully native Azure Monitor solution — no additional agents required on SQL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Agentless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No software installed</a:t>
            </a:r>
            <a:br/>
            <a:r>
              <a:t>on SQL Servers.</a:t>
            </a:r>
            <a:br/>
            <a:r>
              <a:t>Only the Hybrid Worker</a:t>
            </a:r>
            <a:br/>
            <a:r>
              <a:t>needs an extension.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25603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Custom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Clean 20-column table</a:t>
            </a:r>
            <a:br/>
            <a:r>
              <a:t>in Log Analytics.</a:t>
            </a:r>
            <a:br/>
            <a:r>
              <a:t>No JSON parsing needed</a:t>
            </a:r>
            <a:br/>
            <a:r>
              <a:t>in KQL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256032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Secure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Managed Identity auth.</a:t>
            </a:r>
            <a:br/>
            <a:r>
              <a:t>Key Vault for credentials.</a:t>
            </a:r>
            <a:br/>
            <a:r>
              <a:t>No passwords in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286000"/>
            <a:ext cx="256032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Pre-built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4-tab Azure Monitor</a:t>
            </a:r>
            <a:br/>
            <a:r>
              <a:t>Workbook: Summary,</a:t>
            </a:r>
            <a:br/>
            <a:r>
              <a:t>Instances, Databases,</a:t>
            </a:r>
            <a:br/>
            <a:r>
              <a:t>Backups.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Segoe UI"/>
              </a:defRPr>
            </a:pPr>
            <a:r>
              <a:t>Metrics Collected: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Segoe UI"/>
              </a:defRPr>
            </a:pPr>
            <a:r>
              <a:t>Instance Uptime  •  Database State &amp; Recovery Model  •  Full/Log Backup Status  •  Backup SLA Compliance  •  Connection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743200" cy="4754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Segoe UI"/>
              </a:defRPr>
            </a:pPr>
            <a:r>
              <a:t>On-Premises / IaaS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194560" cy="7315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SQL Server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194560" cy="7315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SQL Server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2194560" cy="7315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SQL Server 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371600"/>
            <a:ext cx="2743200" cy="47548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Segoe UI"/>
              </a:defRPr>
            </a:pPr>
            <a:r>
              <a:t>Hybrid Worker (Arc VM)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011680"/>
            <a:ext cx="2194560" cy="6400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Arc-enabled Server</a:t>
            </a:r>
            <a:br/>
            <a:r>
              <a:t>+ Managed Identity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926080"/>
            <a:ext cx="2194560" cy="64008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3333"/>
                </a:solidFill>
                <a:latin typeface="Segoe UI"/>
              </a:defRPr>
            </a:pPr>
            <a:r>
              <a:t>Hybrid Worker</a:t>
            </a:r>
            <a:br/>
            <a:r>
              <a:t>Extension (PS 7.2)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3840480"/>
            <a:ext cx="2194560" cy="91440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33333"/>
                </a:solidFill>
                <a:latin typeface="Segoe UI"/>
              </a:defRPr>
            </a:pPr>
            <a:r>
              <a:t>PowerShell Runbook</a:t>
            </a:r>
            <a:br/>
            <a:r>
              <a:t>Get-SQLServerInfo-</a:t>
            </a:r>
            <a:br/>
            <a:r>
              <a:t>LogsIngestionApi.ps1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371600"/>
            <a:ext cx="484632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Segoe UI"/>
              </a:defRPr>
            </a:pPr>
            <a:r>
              <a:t>Azure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011680"/>
            <a:ext cx="201168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Automation</a:t>
            </a:r>
            <a:br/>
            <a:r>
              <a:t>Account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2011680"/>
            <a:ext cx="2011680" cy="64008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Key Vault</a:t>
            </a:r>
            <a:br/>
            <a:r>
              <a:t>(optional)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017520"/>
            <a:ext cx="2011680" cy="5486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DCE (Endpoint)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017520"/>
            <a:ext cx="2011680" cy="5486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DCR (Rule)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023360"/>
            <a:ext cx="201168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Log Analytics</a:t>
            </a:r>
            <a:br/>
            <a:r>
              <a:t>SQLServerMonitoring_CL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023360"/>
            <a:ext cx="201168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Azure Monitor</a:t>
            </a:r>
            <a:br/>
            <a:r>
              <a:t>Workbook (4 tabs)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Segoe UI"/>
              </a:defRPr>
            </a:pPr>
            <a:r>
              <a:t>TCP 1433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Segoe UI"/>
              </a:defRPr>
            </a:pPr>
            <a:r>
              <a:t>HTTPS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Data Flow:  ① Schedule triggers runbook  →  ② Hybrid Worker queries SQL Servers  →  ③ POST to Logs Ingestion API  →  ④ DCR routes to custom table  →  ⑤ Workbook visualizes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Pipeline — Logs Ingestion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8D4"/>
                </a:solidFill>
                <a:latin typeface="Segoe UI"/>
              </a:defRPr>
            </a:pPr>
            <a:r>
              <a:t>Direct ingestion into Log Analytics using Azure Monitor's native 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01168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Collect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Runbook queries SQL</a:t>
            </a:r>
            <a:br/>
            <a:r>
              <a:t>Servers using T-SQL</a:t>
            </a:r>
            <a:br/>
            <a:r>
              <a:t>(sys.dm_os_sys_info,</a:t>
            </a:r>
            <a:br/>
            <a:r>
              <a:t>sys.databases,</a:t>
            </a:r>
            <a:br/>
            <a:r>
              <a:t>msdb.dbo.backupset)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86000"/>
            <a:ext cx="2011680" cy="5486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PowerShell converts</a:t>
            </a:r>
            <a:br/>
            <a:r>
              <a:t>results to JSON records</a:t>
            </a:r>
            <a:br/>
            <a:r>
              <a:t>with 20 typed columns</a:t>
            </a:r>
            <a:br/>
            <a:r>
              <a:t>(one record per database)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286000"/>
            <a:ext cx="2011680" cy="5486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Authenticate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Managed Identity</a:t>
            </a:r>
            <a:br/>
            <a:r>
              <a:t>obtains OAuth2 token</a:t>
            </a:r>
            <a:br/>
            <a:r>
              <a:t>for monitor.azure.com</a:t>
            </a:r>
            <a:br/>
            <a:r>
              <a:t>(no stored credentials)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86000"/>
            <a:ext cx="2011680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HTTPS POST to DCE</a:t>
            </a:r>
            <a:br/>
            <a:r>
              <a:t>Logs Ingestion API</a:t>
            </a:r>
            <a:br/>
            <a:r>
              <a:t>with JSON payload</a:t>
            </a:r>
            <a:br/>
            <a:r>
              <a:t>(batched per collection)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286000"/>
            <a:ext cx="201168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5.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DCR validates schema,</a:t>
            </a:r>
            <a:br/>
            <a:r>
              <a:t>applies transformKql,</a:t>
            </a:r>
            <a:br/>
            <a:r>
              <a:t>routes to destination</a:t>
            </a:r>
            <a:br/>
            <a:r>
              <a:t>table in Log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Segoe UI"/>
              </a:defRPr>
            </a:pPr>
            <a:r>
              <a:t>Custom Table: SQLServerMonitoring_CL (20 columns)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TimeGenerated  •  CollectorName  •  SqlInstance  •  ServerName  •  SqlVersion  •  InstanceStartTime</a:t>
            </a:r>
            <a:br/>
            <a:r>
              <a:t>InstanceUptimeSeconds/Minutes/Hours/Days  •  DatabaseName  •  DatabaseState  •  RecoveryModel</a:t>
            </a:r>
            <a:br/>
            <a:r>
              <a:t>DatabaseCreateDate  •  LastFullBackupTime  •  HoursSinceFullBackup  •  LastFullBackupStatus</a:t>
            </a:r>
            <a:br/>
            <a:r>
              <a:t>FullBackupAlertStatus  •  LastLogBackupTime  •  MinutesSinceLogBackup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Workbook Dashboard — 4 Tabs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📊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4 KPI tiles: Instances, Databases,</a:t>
            </a:r>
            <a:br/>
            <a:r>
              <a:t>Backup Alerts, Compliance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Pie charts: Backup status distribution</a:t>
            </a:r>
            <a:br/>
            <a:r>
              <a:t>and Recovery model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5487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Instance uptime table with</a:t>
            </a:r>
            <a:br/>
            <a:r>
              <a:t>heat-map coloring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651760" cy="5486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🖥️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Grid with online/offline status,</a:t>
            </a:r>
            <a:br/>
            <a:r>
              <a:t>SQL version, database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74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Uptime display in days/hours</a:t>
            </a:r>
            <a:br/>
            <a:r>
              <a:t>with last-seen timestamp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75487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Line chart: uptime trend</a:t>
            </a:r>
            <a:br/>
            <a:r>
              <a:t>over time per instance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651760" cy="5486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🗄️ Databases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Detailed grid with state,</a:t>
            </a:r>
            <a:br/>
            <a:r>
              <a:t>recovery model, backup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74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Color-coded: ONLINE=green,</a:t>
            </a:r>
            <a:br/>
            <a:r>
              <a:t>FULL=blue, SIMPLE=orange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75487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Bar chart: database count</a:t>
            </a:r>
            <a:br/>
            <a:r>
              <a:t>per SQL instance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63040"/>
            <a:ext cx="2651760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💾 Backups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Compliance table per instance</a:t>
            </a:r>
            <a:br/>
            <a:r>
              <a:t>(compliant, warning, 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474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Alert grid: databases needing</a:t>
            </a:r>
            <a:br/>
            <a:r>
              <a:t>attention (sorted by severity)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75487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Log backup monitoring for</a:t>
            </a:r>
            <a:br/>
            <a:r>
              <a:t>FULL recovery model DBs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Segoe UI"/>
              </a:defRPr>
            </a:pPr>
            <a:r>
              <a:t>Interactive Parameters:  Subscription  •  Workspace  •  Time Range  •  SQL Instance (multi-select)  •  Database (multi-select)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Azure Authentication (Managed Identity)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System-assigned MI on Automation Account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Arc VM MI for IMDS token (Hybrid Worker)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OAuth2 tokens for Azure Monitor &amp; Key Vault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RBAC: Monitoring Metrics Publisher on DCR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RBAC: Key Vault Secrets User (SQL Auth only)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No credentials stored in runbook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SQL Server Authentication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029200" cy="164592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Segoe UI"/>
              </a:defRPr>
            </a:pPr>
            <a:r>
              <a:t>Option A: Windows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Best for domain-joined environments.</a:t>
            </a:r>
            <a:br/>
            <a:r>
              <a:t>Hybrid Worker service account authenticates</a:t>
            </a:r>
            <a:br/>
            <a:r>
              <a:t>via Kerberos/NTLM. No password management.</a:t>
            </a:r>
            <a:br/>
            <a:r>
              <a:t>Requirements: Domain trust, SQL login for machine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029200" cy="1645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4023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Segoe UI"/>
              </a:defRPr>
            </a:pPr>
            <a:r>
              <a:t>Option B: SQL Authentication + Key 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3891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Best for non-domain or mixed environments.</a:t>
            </a:r>
            <a:br/>
            <a:r>
              <a:t>Credentials stored securely in Azure Key Vault.</a:t>
            </a:r>
            <a:br/>
            <a:r>
              <a:t>Managed Identity retrieves secrets at runtime.</a:t>
            </a:r>
            <a:br/>
            <a:r>
              <a:t>Requirements: Key Vault with SQL login secrets.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Segoe UI"/>
              </a:defRPr>
            </a:pPr>
            <a:r>
              <a:t>Required SQL Server Permissions: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VIEW SERVER STATE  •  VIEW ANY DATABASE  •  db_datareader on msdb (for backup history)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Deployment — Easy as 1-2-3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8D4"/>
                </a:solidFill>
                <a:latin typeface="Segoe UI"/>
              </a:defRPr>
            </a:pPr>
            <a:r>
              <a:t>Three ARM templates — deployable from the Azure Portal (no CLI required)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0040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  <a:br/>
            <a: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arm-template-infrastructure.json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Automation Account (System MI)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Log Analytics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Custom Table (20 columns)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Key Vault (optional)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200400" cy="8229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  <a:br/>
            <a:r>
              <a:t>Data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arm-template-data-collection.json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Data Collection Endpoint (DCE)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Data Collection Rule (DCR)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Stream declarations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Transform KQL 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20040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  <a:br/>
            <a:r>
              <a:t>Workbook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arm-template-workbook.json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Azure Monitor Workbook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49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4 interactive 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Pre-configured KQL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✓  Color-coded visualizations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Segoe UI"/>
              </a:defRPr>
            </a:pPr>
            <a:r>
              <a:t>Manual Steps (Portal-guided):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→  Configure RBAC (assign Monitoring Metrics Publisher role to Automation Account MI on DCR)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→  Set up Hybrid Worker Group (add Arc-enabled server to Automation Account)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→  Import &amp; publish the runbook script (paste into Automation Account runbook editor)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→  Create schedule and link to runbook with parameters (SQL instances, DCE endpoint, DCR ID)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BBDEFB"/>
                </a:solidFill>
                <a:latin typeface="Segoe UI"/>
              </a:defRPr>
            </a:pPr>
            <a:r>
              <a:t>1.  Review the Lab Deployment Guide (LabGuide-SQLServerMonitoring.md)</a:t>
            </a:r>
          </a:p>
          <a:p>
            <a:pPr>
              <a:spcAft>
                <a:spcPts val="600"/>
              </a:spcAft>
              <a:defRPr sz="2000">
                <a:solidFill>
                  <a:srgbClr val="BBDEFB"/>
                </a:solidFill>
                <a:latin typeface="Segoe UI"/>
              </a:defRPr>
            </a:pPr>
            <a:r>
              <a:t>2.  Deploy ARM templates to your subscription (Portal or script)</a:t>
            </a:r>
          </a:p>
          <a:p>
            <a:pPr>
              <a:spcAft>
                <a:spcPts val="600"/>
              </a:spcAft>
              <a:defRPr sz="2000">
                <a:solidFill>
                  <a:srgbClr val="BBDEFB"/>
                </a:solidFill>
                <a:latin typeface="Segoe UI"/>
              </a:defRPr>
            </a:pPr>
            <a:r>
              <a:t>3.  Configure Hybrid Worker on an Arc-enabled server or Azure VM</a:t>
            </a:r>
          </a:p>
          <a:p>
            <a:pPr>
              <a:spcAft>
                <a:spcPts val="600"/>
              </a:spcAft>
              <a:defRPr sz="2000">
                <a:solidFill>
                  <a:srgbClr val="BBDEFB"/>
                </a:solidFill>
                <a:latin typeface="Segoe UI"/>
              </a:defRPr>
            </a:pPr>
            <a:r>
              <a:t>4.  Import the runbook and create a monitoring schedule</a:t>
            </a:r>
          </a:p>
          <a:p>
            <a:pPr>
              <a:spcAft>
                <a:spcPts val="600"/>
              </a:spcAft>
              <a:defRPr sz="2000">
                <a:solidFill>
                  <a:srgbClr val="BBDEFB"/>
                </a:solidFill>
                <a:latin typeface="Segoe UI"/>
              </a:defRPr>
            </a:pPr>
            <a:r>
              <a:t>5.  Validate data in the workbook dashboard</a:t>
            </a:r>
          </a:p>
          <a:p>
            <a:pPr>
              <a:spcAft>
                <a:spcPts val="600"/>
              </a:spcAft>
              <a:defRPr sz="2000">
                <a:solidFill>
                  <a:srgbClr val="BBDEFB"/>
                </a:solidFill>
                <a:latin typeface="Segoe UI"/>
              </a:defRPr>
            </a:pPr>
            <a:r>
              <a:t>6.  Set up alert rules for backup SLA violations</a:t>
            </a:r>
          </a:p>
          <a:p>
            <a:pPr>
              <a:spcAft>
                <a:spcPts val="600"/>
              </a:spcAft>
              <a:defRPr sz="2000">
                <a:solidFill>
                  <a:srgbClr val="BBDEFB"/>
                </a:solidFill>
                <a:latin typeface="Segoe UI"/>
              </a:defRPr>
            </a:pPr>
            <a:r>
              <a:t>7.  Scale: add more SQL instances to the collection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Segoe UI"/>
              </a:defRPr>
            </a:pPr>
            <a:r>
              <a:t>All materials provided:  Presentation  •  Architecture Diagram  •  Lab Guide  •  ARM Templates  •  Deployment Script  • 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1171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Rogério Barros</cp:lastModifiedBy>
  <cp:revision>1</cp:revision>
  <dcterms:created xsi:type="dcterms:W3CDTF">2013-01-27T09:14:16Z</dcterms:created>
  <dcterms:modified xsi:type="dcterms:W3CDTF">2026-02-26T18:47:33Z</dcterms:modified>
  <cp:category/>
</cp:coreProperties>
</file>